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5534778d5724793" /><Relationship Type="http://schemas.openxmlformats.org/officeDocument/2006/relationships/extended-properties" Target="/docProps/app.xml" Id="Rb18d36c4f7674996" /><Relationship Type="http://schemas.openxmlformats.org/officeDocument/2006/relationships/officeDocument" Target="/ppt/presentation.xml" Id="R0917b0f93c814e9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4bf73005b5e4721"/>
  </p:sldMasterIdLst>
  <p:notesMasterIdLst>
    <p:notesMasterId xmlns:r="http://schemas.openxmlformats.org/officeDocument/2006/relationships" r:id="R311a93dbfaee4fd9"/>
  </p:notesMasterIdLst>
  <p:sldIdLst>
    <p:sldId xmlns:r="http://schemas.openxmlformats.org/officeDocument/2006/relationships" id="256" r:id="Ra6bf15ef0af14f4a"/>
    <p:sldId xmlns:r="http://schemas.openxmlformats.org/officeDocument/2006/relationships" id="257" r:id="R2aa5cc3e7dc8429f"/>
    <p:sldId xmlns:r="http://schemas.openxmlformats.org/officeDocument/2006/relationships" id="258" r:id="Rbd090ff8826b4f2c"/>
    <p:sldId xmlns:r="http://schemas.openxmlformats.org/officeDocument/2006/relationships" id="259" r:id="R7d13f15d27a14378"/>
    <p:sldId xmlns:r="http://schemas.openxmlformats.org/officeDocument/2006/relationships" id="260" r:id="Rd90db24a6bf74f0b"/>
    <p:sldId xmlns:r="http://schemas.openxmlformats.org/officeDocument/2006/relationships" id="261" r:id="R245f34f7f0d84c11"/>
    <p:sldId xmlns:r="http://schemas.openxmlformats.org/officeDocument/2006/relationships" id="262" r:id="Rcf6481da81db40a3"/>
    <p:sldId xmlns:r="http://schemas.openxmlformats.org/officeDocument/2006/relationships" id="263" r:id="R3eed8b3dfa5440b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f0eb7644a42486d" /><Relationship Type="http://schemas.openxmlformats.org/officeDocument/2006/relationships/slideMaster" Target="/ppt/slideMasters/slideMaster1.xml" Id="R14bf73005b5e4721" /><Relationship Type="http://schemas.openxmlformats.org/officeDocument/2006/relationships/notesMaster" Target="/ppt/notesMasters/notesMaster1.xml" Id="R311a93dbfaee4fd9" /><Relationship Type="http://schemas.openxmlformats.org/officeDocument/2006/relationships/presProps" Target="/ppt/presProps.xml" Id="R93ff1b8bb4dd489e" /><Relationship Type="http://schemas.openxmlformats.org/officeDocument/2006/relationships/tableStyles" Target="/ppt/tableStyles.xml" Id="R3e57b142d9bb40f4" /><Relationship Type="http://schemas.openxmlformats.org/officeDocument/2006/relationships/slide" Target="/ppt/slides/slide1.xml" Id="Ra6bf15ef0af14f4a" /><Relationship Type="http://schemas.openxmlformats.org/officeDocument/2006/relationships/slide" Target="/ppt/slides/slide2.xml" Id="R2aa5cc3e7dc8429f" /><Relationship Type="http://schemas.openxmlformats.org/officeDocument/2006/relationships/slide" Target="/ppt/slides/slide3.xml" Id="Rbd090ff8826b4f2c" /><Relationship Type="http://schemas.openxmlformats.org/officeDocument/2006/relationships/slide" Target="/ppt/slides/slide4.xml" Id="R7d13f15d27a14378" /><Relationship Type="http://schemas.openxmlformats.org/officeDocument/2006/relationships/slide" Target="/ppt/slides/slide5.xml" Id="Rd90db24a6bf74f0b" /><Relationship Type="http://schemas.openxmlformats.org/officeDocument/2006/relationships/slide" Target="/ppt/slides/slide6.xml" Id="R245f34f7f0d84c11" /><Relationship Type="http://schemas.openxmlformats.org/officeDocument/2006/relationships/slide" Target="/ppt/slides/slide7.xml" Id="Rcf6481da81db40a3" /><Relationship Type="http://schemas.openxmlformats.org/officeDocument/2006/relationships/slide" Target="/ppt/slides/slide8.xml" Id="R3eed8b3dfa5440b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0791f17f1594d6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14bf3e673b54114" /><Relationship Type="http://schemas.openxmlformats.org/officeDocument/2006/relationships/notesMaster" Target="/ppt/notesMasters/notesMaster1.xml" Id="R9cf353297b8d43b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b8571dca9e0461c" /><Relationship Type="http://schemas.openxmlformats.org/officeDocument/2006/relationships/notesMaster" Target="/ppt/notesMasters/notesMaster1.xml" Id="Re9fe2e8a971b447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c778c7036c04afc" /><Relationship Type="http://schemas.openxmlformats.org/officeDocument/2006/relationships/notesMaster" Target="/ppt/notesMasters/notesMaster1.xml" Id="Rf45b04d15cc843f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e0be65d9bf440be" /><Relationship Type="http://schemas.openxmlformats.org/officeDocument/2006/relationships/notesMaster" Target="/ppt/notesMasters/notesMaster1.xml" Id="R4b2c234fe5ed4f0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fd2702589894668" /><Relationship Type="http://schemas.openxmlformats.org/officeDocument/2006/relationships/notesMaster" Target="/ppt/notesMasters/notesMaster1.xml" Id="Rd491efe27e94455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e6033a10bcc4ad3" /><Relationship Type="http://schemas.openxmlformats.org/officeDocument/2006/relationships/notesMaster" Target="/ppt/notesMasters/notesMaster1.xml" Id="Rde6fcd47d57b4c3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e706e03dbda48e8" /><Relationship Type="http://schemas.openxmlformats.org/officeDocument/2006/relationships/notesMaster" Target="/ppt/notesMasters/notesMaster1.xml" Id="Rb1df112e6972437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70383d20dc4484e" /><Relationship Type="http://schemas.openxmlformats.org/officeDocument/2006/relationships/notesMaster" Target="/ppt/notesMasters/notesMaster1.xml" Id="Rb509f17401b340e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de2238a98148d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5d7ef7925394991" /><Relationship Type="http://schemas.openxmlformats.org/officeDocument/2006/relationships/slideLayout" Target="/ppt/slideLayouts/slideLayout1.xml" Id="R9096adceb9ba46c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096adceb9ba46c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913c482b764b5d" /><Relationship Type="http://schemas.openxmlformats.org/officeDocument/2006/relationships/notesSlide" Target="/ppt/notesSlides/notesSlide1.xml" Id="R5fb007f9f92e4c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13402949e94282" /><Relationship Type="http://schemas.openxmlformats.org/officeDocument/2006/relationships/notesSlide" Target="/ppt/notesSlides/notesSlide2.xml" Id="R613e51e6ebff45e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c988b07f9d4f19" /><Relationship Type="http://schemas.openxmlformats.org/officeDocument/2006/relationships/notesSlide" Target="/ppt/notesSlides/notesSlide3.xml" Id="R4a5a5a3126424f1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8156ffa6144444" /><Relationship Type="http://schemas.openxmlformats.org/officeDocument/2006/relationships/notesSlide" Target="/ppt/notesSlides/notesSlide4.xml" Id="Rf02b2a9e85f049d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858572f3e24962" /><Relationship Type="http://schemas.openxmlformats.org/officeDocument/2006/relationships/notesSlide" Target="/ppt/notesSlides/notesSlide5.xml" Id="Rb669d72388c746d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275275e0ee4e29" /><Relationship Type="http://schemas.openxmlformats.org/officeDocument/2006/relationships/notesSlide" Target="/ppt/notesSlides/notesSlide6.xml" Id="R40ea5776fd5a454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9313462ea447d8" /><Relationship Type="http://schemas.openxmlformats.org/officeDocument/2006/relationships/notesSlide" Target="/ppt/notesSlides/notesSlide7.xml" Id="R5de469fbabca4d2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a1717c02b84d68" /><Relationship Type="http://schemas.openxmlformats.org/officeDocument/2006/relationships/notesSlide" Target="/ppt/notesSlides/notesSlide8.xml" Id="Re2b3e8e706544e6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0477660C-555C-48E7-8DA7-68E1B6E13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Errand
Autonomous local commerce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58E27ACF-6C45-4E50-B4C8-B0B6DD6D5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Agents pay for trusted inventory, decide under policy, and settle pickup orders in USDC.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571483F9-0E91-4186-B910-28E510BD2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BUILD ON ARC · AGENTIC ECONOMY</a:t>
            </a:r>
          </a:p>
        </p:txBody>
      </p:sp>
    </p:spTree>
    <p:extLst>
      <p:ext uri="{BB962C8B-B14F-4D97-AF65-F5344CB8AC3E}">
        <p14:creationId xmlns:p14="http://schemas.microsoft.com/office/powerpoint/2010/main" val="50989469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E5941F41-ADA0-4B09-B4D7-1A622F8B9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74AC8D4E-DA10-4151-827D-8FAE986BA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519"/>
            <a:ext cx="11404568" cy="64427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Local commerce is still opaque to autonomous agents</a:t>
            </a:r>
          </a:p>
        </p:txBody>
      </p:sp>
      <p:sp>
        <p:nvSpPr>
          <p:cNvPr id="3" name="Rounded-Rectangle-1-4">
            <a:extLst xmlns:a="http://schemas.openxmlformats.org/drawingml/2006/main">
              <a:ext uri="{FF2B5EF4-FFF2-40B4-BE49-F238E27FC236}">
                <a16:creationId xmlns:a16="http://schemas.microsoft.com/office/drawing/2014/main" id="{9919D64C-3ED9-4288-B36C-BC796F305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002" y="3339084"/>
            <a:ext cx="5533930" cy="1320832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3A136966-AA4B-4CDA-8DF7-206C8596B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77" y="3587972"/>
            <a:ext cx="4986909" cy="87782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Free discovery
Stale data and no accountability</a:t>
            </a:r>
          </a:p>
        </p:txBody>
      </p:sp>
      <p:sp>
        <p:nvSpPr>
          <p:cNvPr id="5" name="Content-Placeholder-15-6">
            <a:extLst xmlns:a="http://schemas.openxmlformats.org/drawingml/2006/main">
              <a:ext uri="{FF2B5EF4-FFF2-40B4-BE49-F238E27FC236}">
                <a16:creationId xmlns:a16="http://schemas.microsoft.com/office/drawing/2014/main" id="{02F77AF2-3497-454D-9036-E84F56A7D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77" y="4828604"/>
            <a:ext cx="5236655" cy="9779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No freshness guarantee
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No cryptographic origin
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No settlement path</a:t>
            </a:r>
          </a:p>
        </p:txBody>
      </p:sp>
      <p:sp>
        <p:nvSpPr>
          <p:cNvPr id="6" name="Rounded-Rectangle-7-7">
            <a:extLst xmlns:a="http://schemas.openxmlformats.org/drawingml/2006/main">
              <a:ext uri="{FF2B5EF4-FFF2-40B4-BE49-F238E27FC236}">
                <a16:creationId xmlns:a16="http://schemas.microsoft.com/office/drawing/2014/main" id="{F44A3B49-932E-4EA1-A37D-7572AD661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0783" y="3339084"/>
            <a:ext cx="5533930" cy="1320832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7" name="Content-Placeholder-10-8">
            <a:extLst xmlns:a="http://schemas.openxmlformats.org/drawingml/2006/main">
              <a:ext uri="{FF2B5EF4-FFF2-40B4-BE49-F238E27FC236}">
                <a16:creationId xmlns:a16="http://schemas.microsoft.com/office/drawing/2014/main" id="{F7EBA2A9-7A6A-41BB-9CFF-1BA3C40B8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58" y="3587972"/>
            <a:ext cx="4986909" cy="87782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Trusted answers
Paid, signed, and attributable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70F3A007-99D5-4FB3-8F73-5D7C3FFAA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58" y="4828604"/>
            <a:ext cx="5236655" cy="9779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Merchant earns per answer
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Agent verifies every quote
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USDC closes the loop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23F43B39-9FDE-4734-9184-52CF6CD95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07" y="1157478"/>
            <a:ext cx="11404568" cy="162925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TRUST GAP
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An agent cannot safely act on stale listings, unverifiable prices, or unknown fulfillment. Reliable answers cost merchants money to produce — but today there is no native way to pay for them and carry that trust into settlement.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2568330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CF5A4CE7-894F-4F33-A3B6-858E343B8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023CD4DF-87C4-44CB-AED5-D4C89620F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One intent becomes a bounded onchain commerce loop</a:t>
            </a:r>
          </a:p>
        </p:txBody>
      </p:sp>
      <p:cxnSp>
        <p:nvCxnSpPr>
          <p:cNvPr id="21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3EC81C4C-D805-451F-BABC-5778F8DED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0CF13C78-026F-409B-AD64-3FE03C0BB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F2456DB4-9413-4D74-8760-32BB57D1F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B1CB7A7D-6BEC-4281-8EA0-E38837B8C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DISCOVER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E6794469-E707-4407-89B6-036A83C41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DECIDE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A6CD1B71-02FE-4CB7-8372-676EFB46A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SETTLE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E3139469-71B1-41EB-8D30-6582884F8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Verify and rank
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It recovers EIP-712 signers, validates totals, and scores merchants from real operating signals.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2B18298B-1A54-4BF6-A5D4-89B6CF121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Pay for signal
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agent buys live merchant quotes through x402 using a strict Gateway USDC research budget.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14883EB9-70D0-4C39-92CD-4D0860C37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Release on pickup
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Arc escrow holds the order principal until the merchant proves the shopper handoff.</a:t>
            </a:r>
          </a:p>
        </p:txBody>
      </p:sp>
    </p:spTree>
    <p:extLst>
      <p:ext uri="{BB962C8B-B14F-4D97-AF65-F5344CB8AC3E}">
        <p14:creationId xmlns:p14="http://schemas.microsoft.com/office/powerpoint/2010/main" val="53520847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Number-Placeholder-1-2">
            <a:extLst xmlns:a="http://schemas.openxmlformats.org/drawingml/2006/main">
              <a:ext uri="{FF2B5EF4-FFF2-40B4-BE49-F238E27FC236}">
                <a16:creationId xmlns:a16="http://schemas.microsoft.com/office/drawing/2014/main" id="{57DEE4F1-F7F3-4DE0-ADE6-84DFA0EF0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219" y="6278594"/>
            <a:ext cx="519113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  <p:sp>
        <p:nvSpPr>
          <p:cNvPr id="2" name="Title-2-3">
            <a:extLst xmlns:a="http://schemas.openxmlformats.org/drawingml/2006/main">
              <a:ext uri="{FF2B5EF4-FFF2-40B4-BE49-F238E27FC236}">
                <a16:creationId xmlns:a16="http://schemas.microsoft.com/office/drawing/2014/main" id="{441A5FC4-A228-4146-B6F7-5808BB803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agent decides from explicit signals — not a black box</a:t>
            </a:r>
          </a:p>
        </p:txBody>
      </p:sp>
      <p:sp>
        <p:nvSpPr>
          <p:cNvPr id="3" name="Content-Placeholder-9-4">
            <a:extLst xmlns:a="http://schemas.openxmlformats.org/drawingml/2006/main">
              <a:ext uri="{FF2B5EF4-FFF2-40B4-BE49-F238E27FC236}">
                <a16:creationId xmlns:a16="http://schemas.microsoft.com/office/drawing/2014/main" id="{F77DB800-1810-4BB6-BF2A-FBC28764D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45% · SKU coverage
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Can this merchant fulfill the requested basket now?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7024729B-2720-4D81-8C77-7D6BF472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25% · Quality
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Does the merchant meet the shopper's quality threshold?</a:t>
            </a:r>
          </a:p>
        </p:txBody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0450CEA2-3C32-453D-8E9D-10A3D1DB5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20% · Distance
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Is pickup practical within the local mission radius?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D2FC4EB3-82F9-4412-BEFE-67EEAF84B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10% · Negotiability
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Is the merchant willing to optimize price or bundle terms?</a:t>
            </a:r>
          </a:p>
        </p:txBody>
      </p:sp>
    </p:spTree>
    <p:extLst>
      <p:ext uri="{BB962C8B-B14F-4D97-AF65-F5344CB8AC3E}">
        <p14:creationId xmlns:p14="http://schemas.microsoft.com/office/powerpoint/2010/main" val="208335305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Number-Placeholder-1-2">
            <a:extLst xmlns:a="http://schemas.openxmlformats.org/drawingml/2006/main">
              <a:ext uri="{FF2B5EF4-FFF2-40B4-BE49-F238E27FC236}">
                <a16:creationId xmlns:a16="http://schemas.microsoft.com/office/drawing/2014/main" id="{3B66F29D-B549-47D4-8299-D34694F56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219" y="6278594"/>
            <a:ext cx="519113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</a:t>
            </a:r>
          </a:p>
        </p:txBody>
      </p:sp>
      <p:sp>
        <p:nvSpPr>
          <p:cNvPr id="2" name="Title-2-3">
            <a:extLst xmlns:a="http://schemas.openxmlformats.org/drawingml/2006/main">
              <a:ext uri="{FF2B5EF4-FFF2-40B4-BE49-F238E27FC236}">
                <a16:creationId xmlns:a16="http://schemas.microsoft.com/office/drawing/2014/main" id="{EBB66BED-3733-404F-8BA4-63A6A45A6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Every trust boundary is independently verifiable</a:t>
            </a:r>
          </a:p>
        </p:txBody>
      </p:sp>
      <p:sp>
        <p:nvSpPr>
          <p:cNvPr id="3" name="Content-Placeholder-9-4">
            <a:extLst xmlns:a="http://schemas.openxmlformats.org/drawingml/2006/main">
              <a:ext uri="{FF2B5EF4-FFF2-40B4-BE49-F238E27FC236}">
                <a16:creationId xmlns:a16="http://schemas.microsoft.com/office/drawing/2014/main" id="{723553C7-3CC4-4CB3-A2BE-6DCF7C957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Gateway + x402
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Gasless sub-cent authorizations make paid discovery economically viable.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5E80BAFD-E6CB-4CE9-8FCF-FEB92202F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Signed quotes
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Merchant identity, basket hash, total, nonce, and expiry are checked by the agent.</a:t>
            </a:r>
          </a:p>
        </p:txBody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070007D1-987C-4416-8B32-8380D2724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Policy ledger
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Pending, settled, and failed reservations prevent duplicate or unbounded spend.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79E7B01F-632D-43D7-8C81-7FCA474E3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Arc escrow
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Pickup proof releases USDC; cancellation and timeout paths protect the shopper.</a:t>
            </a:r>
          </a:p>
        </p:txBody>
      </p:sp>
    </p:spTree>
    <p:extLst>
      <p:ext uri="{BB962C8B-B14F-4D97-AF65-F5344CB8AC3E}">
        <p14:creationId xmlns:p14="http://schemas.microsoft.com/office/powerpoint/2010/main" val="84738525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A642B105-5198-4C36-92B7-5C48F5D0B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41C9D0F7-57ED-4126-902A-5F884AF1B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3EB6B6E4-8072-47C0-8AA8-7AD3C6C1C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5C3398B5-FD6E-45D1-B3BB-2C1A99AF6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6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F392F400-D3B6-4C27-9956-627BB1E59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full loop is completed on Arc Testnet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D5D24BD9-3574-45FE-822C-A6C89BEE4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testnet USDC
paid through x402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463ABA6F-5449-44E9-A285-5F33D7A31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released on pickup
0.00756 USDC gas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277E52FA-610D-4185-94D3-3FAF0CDEC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verified paid
quote round trips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43AA8AC2-9126-4853-851C-0CD6C5E7B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0.0025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FBD25626-229B-4420-8954-084526C32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32C7C22F-AFC3-495E-8D46-47680824D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1.5 USDC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82FC3DF9-3998-4AE0-9213-4EA19B9BD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VERIFIED, NOT SIMULATED
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 funded agent bought signed merchant quotes through x402, selected Can Butcher under policy, funded OrderEscrow, and released 1.5 USDC only after verified pickup.</a:t>
            </a:r>
          </a:p>
        </p:txBody>
      </p:sp>
    </p:spTree>
    <p:extLst>
      <p:ext uri="{BB962C8B-B14F-4D97-AF65-F5344CB8AC3E}">
        <p14:creationId xmlns:p14="http://schemas.microsoft.com/office/powerpoint/2010/main" val="139206712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B22F054E-DB23-4745-B364-EEB2745ED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7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098A60B3-7026-4303-80C8-87B8F4543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519"/>
            <a:ext cx="11404568" cy="64427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Errand can become the agent-commerce layer for delivery platforms</a:t>
            </a:r>
          </a:p>
        </p:txBody>
      </p:sp>
      <p:sp>
        <p:nvSpPr>
          <p:cNvPr id="3" name="Rounded-Rectangle-1-4">
            <a:extLst xmlns:a="http://schemas.openxmlformats.org/drawingml/2006/main">
              <a:ext uri="{FF2B5EF4-FFF2-40B4-BE49-F238E27FC236}">
                <a16:creationId xmlns:a16="http://schemas.microsoft.com/office/drawing/2014/main" id="{C0A9E047-3696-4E0D-A74D-46ECF4BA7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002" y="3339084"/>
            <a:ext cx="5533930" cy="1320832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3BB7E1FA-0A86-4461-B0FD-2DF33CD67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77" y="3587972"/>
            <a:ext cx="4986909" cy="87782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Enterprise SDK
Embed autonomous procurement</a:t>
            </a:r>
          </a:p>
        </p:txBody>
      </p:sp>
      <p:sp>
        <p:nvSpPr>
          <p:cNvPr id="5" name="Content-Placeholder-15-6">
            <a:extLst xmlns:a="http://schemas.openxmlformats.org/drawingml/2006/main">
              <a:ext uri="{FF2B5EF4-FFF2-40B4-BE49-F238E27FC236}">
                <a16:creationId xmlns:a16="http://schemas.microsoft.com/office/drawing/2014/main" id="{8DB1807B-94A7-4744-82D9-5B97BD6E0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77" y="4828604"/>
            <a:ext cx="5236655" cy="9779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Merchant discovery and routing
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Configurable spend policies
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Operator-grade evidence</a:t>
            </a:r>
          </a:p>
        </p:txBody>
      </p:sp>
      <p:sp>
        <p:nvSpPr>
          <p:cNvPr id="6" name="Rounded-Rectangle-7-7">
            <a:extLst xmlns:a="http://schemas.openxmlformats.org/drawingml/2006/main">
              <a:ext uri="{FF2B5EF4-FFF2-40B4-BE49-F238E27FC236}">
                <a16:creationId xmlns:a16="http://schemas.microsoft.com/office/drawing/2014/main" id="{F2037831-1C11-4871-8E80-E46EF2042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0783" y="3339084"/>
            <a:ext cx="5533930" cy="1320832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7" name="Content-Placeholder-10-8">
            <a:extLst xmlns:a="http://schemas.openxmlformats.org/drawingml/2006/main">
              <a:ext uri="{FF2B5EF4-FFF2-40B4-BE49-F238E27FC236}">
                <a16:creationId xmlns:a16="http://schemas.microsoft.com/office/drawing/2014/main" id="{60086A69-3021-43B3-8BA4-D7DED7019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58" y="3587972"/>
            <a:ext cx="4986909" cy="87782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Transaction rail
Earn on agent activity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30019796-F2F3-4F2A-9ED7-55B7749A1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58" y="4828604"/>
            <a:ext cx="5236655" cy="9779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SaaS platform fee
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Per-agent transaction fee
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Settlement infrastructure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20956D0D-7D83-4965-98A6-CB92CD7C3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07" y="1157478"/>
            <a:ext cx="11404568" cy="162925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WEDGE → PLATFORM
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Start with local pickup procurement. Expand the same decision, wallet-policy, merchant-payment, and conditional-settlement rails into delivery, mobility, field service, and B2B purchasing.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0760440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3B130762-20F2-4EC8-AC0C-0DBA1EE1D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Agents can buy locally.
Now they can prove it.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4816C1A9-A650-465A-99F7-0EEAC5886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973288"/>
            <a:ext cx="35687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Arc Testnet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USDC-native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Live MVP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0802723A-8130-41D7-9428-DF0663C7F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ERRAND</a:t>
            </a:r>
          </a:p>
        </p:txBody>
      </p:sp>
    </p:spTree>
    <p:extLst>
      <p:ext uri="{BB962C8B-B14F-4D97-AF65-F5344CB8AC3E}">
        <p14:creationId xmlns:p14="http://schemas.microsoft.com/office/powerpoint/2010/main" val="6394891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2026-07-21T22:15:27.4190000Z</dcterms:created>
  <dcterms:modified xsi:type="dcterms:W3CDTF">2026-07-21T22:15:27.4190000Z</dcterms:modified>
</coreProperties>
</file>